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3" r:id="rId3"/>
    <p:sldId id="264" r:id="rId4"/>
    <p:sldId id="262" r:id="rId5"/>
    <p:sldId id="258" r:id="rId6"/>
    <p:sldId id="261" r:id="rId7"/>
    <p:sldId id="265" r:id="rId8"/>
    <p:sldId id="257" r:id="rId9"/>
    <p:sldId id="259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76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40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45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8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5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68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55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53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92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2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90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267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694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7921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03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42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91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FE3F41-D61D-4B9A-882A-528814B12996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9442A33-A61E-4FE8-B30F-9A8FFFA327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674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C107-7AC7-A2C9-2620-F094BE407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886" y="439122"/>
            <a:ext cx="8031011" cy="986119"/>
          </a:xfrm>
        </p:spPr>
        <p:txBody>
          <a:bodyPr>
            <a:noAutofit/>
          </a:bodyPr>
          <a:lstStyle/>
          <a:p>
            <a:r>
              <a:rPr lang="en-GB" sz="6600" dirty="0"/>
              <a:t>Robert bejenaru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AB5A5-D7EB-E8A6-14A4-E155DA477E64}"/>
              </a:ext>
            </a:extLst>
          </p:cNvPr>
          <p:cNvSpPr txBox="1"/>
          <p:nvPr/>
        </p:nvSpPr>
        <p:spPr>
          <a:xfrm>
            <a:off x="479609" y="1138081"/>
            <a:ext cx="9498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2800" b="0" i="0" u="none" strike="noStrike" baseline="0" dirty="0"/>
          </a:p>
          <a:p>
            <a:r>
              <a:rPr lang="en-GB" sz="2800" b="0" i="0" u="none" strike="noStrike" baseline="0" dirty="0"/>
              <a:t> Retail Sales Performance Analysis (Power BI Desktop) </a:t>
            </a:r>
            <a:endParaRPr lang="en-GB" sz="2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D23B98-BBC8-6FBD-A507-3BA98A033BED}"/>
              </a:ext>
            </a:extLst>
          </p:cNvPr>
          <p:cNvCxnSpPr>
            <a:cxnSpLocks/>
          </p:cNvCxnSpPr>
          <p:nvPr/>
        </p:nvCxnSpPr>
        <p:spPr>
          <a:xfrm>
            <a:off x="479609" y="1425241"/>
            <a:ext cx="9381567" cy="0"/>
          </a:xfrm>
          <a:prstGeom prst="line">
            <a:avLst/>
          </a:prstGeom>
          <a:ln w="12700"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E3A3DDF-F793-05E6-4DB0-A449DDB3B5C8}"/>
              </a:ext>
            </a:extLst>
          </p:cNvPr>
          <p:cNvSpPr txBox="1"/>
          <p:nvPr/>
        </p:nvSpPr>
        <p:spPr>
          <a:xfrm>
            <a:off x="1322290" y="2791147"/>
            <a:ext cx="66473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I’ve joined the Sales Analytics team at a retail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Senior management wants a Power BI report and a short presentation to help them: monitor sales performance, identify trends, compare regions and product categories, and understand the impact of discounts and costs. </a:t>
            </a:r>
          </a:p>
        </p:txBody>
      </p:sp>
    </p:spTree>
    <p:extLst>
      <p:ext uri="{BB962C8B-B14F-4D97-AF65-F5344CB8AC3E}">
        <p14:creationId xmlns:p14="http://schemas.microsoft.com/office/powerpoint/2010/main" val="13028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3B5E69-5A81-1DF1-B426-F9E3F3AA423F}"/>
              </a:ext>
            </a:extLst>
          </p:cNvPr>
          <p:cNvSpPr txBox="1"/>
          <p:nvPr/>
        </p:nvSpPr>
        <p:spPr>
          <a:xfrm>
            <a:off x="3043518" y="2028616"/>
            <a:ext cx="610496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The dataset contains transaction-level retail sales records, including: 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>
                    <a:lumMod val="95000"/>
                  </a:schemeClr>
                </a:solidFill>
              </a:rPr>
              <a:t>Order information: </a:t>
            </a:r>
            <a:r>
              <a:rPr lang="en-GB" sz="1600" dirty="0">
                <a:solidFill>
                  <a:schemeClr val="tx1">
                    <a:lumMod val="95000"/>
                  </a:schemeClr>
                </a:solidFill>
              </a:rPr>
              <a:t>OrderID, OrderDate, ShipMode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>
                    <a:lumMod val="95000"/>
                  </a:schemeClr>
                </a:solidFill>
              </a:rPr>
              <a:t>Customer segmentation: </a:t>
            </a:r>
            <a:r>
              <a:rPr lang="en-GB" sz="1600" dirty="0">
                <a:solidFill>
                  <a:schemeClr val="tx1">
                    <a:lumMod val="95000"/>
                  </a:schemeClr>
                </a:solidFill>
              </a:rPr>
              <a:t>CustomerSegment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>
                    <a:lumMod val="95000"/>
                  </a:schemeClr>
                </a:solidFill>
              </a:rPr>
              <a:t>Geography: </a:t>
            </a:r>
            <a:r>
              <a:rPr lang="en-GB" sz="1600" dirty="0">
                <a:solidFill>
                  <a:schemeClr val="tx1">
                    <a:lumMod val="95000"/>
                  </a:schemeClr>
                </a:solidFill>
              </a:rPr>
              <a:t>Country, State, City, Region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>
                    <a:lumMod val="95000"/>
                  </a:schemeClr>
                </a:solidFill>
              </a:rPr>
              <a:t>Product: </a:t>
            </a:r>
            <a:r>
              <a:rPr lang="en-GB" sz="1600" dirty="0">
                <a:solidFill>
                  <a:schemeClr val="tx1">
                    <a:lumMod val="95000"/>
                  </a:schemeClr>
                </a:solidFill>
              </a:rPr>
              <a:t>Category, SubCategory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>
                    <a:lumMod val="95000"/>
                  </a:schemeClr>
                </a:solidFill>
              </a:rPr>
              <a:t>Numeric fields: </a:t>
            </a:r>
            <a:r>
              <a:rPr lang="en-GB" sz="1600" dirty="0">
                <a:solidFill>
                  <a:schemeClr val="tx1">
                    <a:lumMod val="95000"/>
                  </a:schemeClr>
                </a:solidFill>
              </a:rPr>
              <a:t>Quantity, UnitPrice, Discount, Unit_Cost </a:t>
            </a:r>
          </a:p>
        </p:txBody>
      </p:sp>
    </p:spTree>
    <p:extLst>
      <p:ext uri="{BB962C8B-B14F-4D97-AF65-F5344CB8AC3E}">
        <p14:creationId xmlns:p14="http://schemas.microsoft.com/office/powerpoint/2010/main" val="262858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A7A39D-A49A-87ED-1E25-0E9BAB6C7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93667"/>
              </p:ext>
            </p:extLst>
          </p:nvPr>
        </p:nvGraphicFramePr>
        <p:xfrm>
          <a:off x="1701983" y="650240"/>
          <a:ext cx="8788033" cy="555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621">
                  <a:extLst>
                    <a:ext uri="{9D8B030D-6E8A-4147-A177-3AD203B41FA5}">
                      <a16:colId xmlns:a16="http://schemas.microsoft.com/office/drawing/2014/main" val="2521065591"/>
                    </a:ext>
                  </a:extLst>
                </a:gridCol>
                <a:gridCol w="2097741">
                  <a:extLst>
                    <a:ext uri="{9D8B030D-6E8A-4147-A177-3AD203B41FA5}">
                      <a16:colId xmlns:a16="http://schemas.microsoft.com/office/drawing/2014/main" val="1879516902"/>
                    </a:ext>
                  </a:extLst>
                </a:gridCol>
                <a:gridCol w="2321859">
                  <a:extLst>
                    <a:ext uri="{9D8B030D-6E8A-4147-A177-3AD203B41FA5}">
                      <a16:colId xmlns:a16="http://schemas.microsoft.com/office/drawing/2014/main" val="2259056450"/>
                    </a:ext>
                  </a:extLst>
                </a:gridCol>
                <a:gridCol w="2079812">
                  <a:extLst>
                    <a:ext uri="{9D8B030D-6E8A-4147-A177-3AD203B41FA5}">
                      <a16:colId xmlns:a16="http://schemas.microsoft.com/office/drawing/2014/main" val="417972271"/>
                    </a:ext>
                  </a:extLst>
                </a:gridCol>
              </a:tblGrid>
              <a:tr h="254150">
                <a:tc>
                  <a:txBody>
                    <a:bodyPr/>
                    <a:lstStyle/>
                    <a:p>
                      <a:r>
                        <a:rPr lang="en-GB" dirty="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57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OrderID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97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OrderDate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Short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45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ShipMode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99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CustomerSegment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34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Country/Region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86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State or Province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52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451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Country/Region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61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452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8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16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UnitPrice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Decimal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Currency (2 D.P)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53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Decimal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Percentage (1 D.P)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20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Unit_Cost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Decimal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Currency (2 D.P)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Uncategorised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082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01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7879F9-3234-0E21-0750-F88BED426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58" y="2026041"/>
            <a:ext cx="7692838" cy="694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3C6C3C-FF4F-106C-5600-32D39488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58" y="3643214"/>
            <a:ext cx="7692838" cy="6999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1C924-0E7A-DF38-3A1B-2277D787741E}"/>
              </a:ext>
            </a:extLst>
          </p:cNvPr>
          <p:cNvSpPr txBox="1"/>
          <p:nvPr/>
        </p:nvSpPr>
        <p:spPr>
          <a:xfrm>
            <a:off x="531158" y="561459"/>
            <a:ext cx="70529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strike="noStrike" baseline="0" dirty="0"/>
              <a:t>Data Understanding &amp; Preparation (Power Query) </a:t>
            </a:r>
            <a:endParaRPr lang="en-GB" sz="2800" b="1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28A9706-D8F8-DF4B-94AA-4C3BCC200988}"/>
              </a:ext>
            </a:extLst>
          </p:cNvPr>
          <p:cNvSpPr/>
          <p:nvPr/>
        </p:nvSpPr>
        <p:spPr>
          <a:xfrm>
            <a:off x="3908612" y="2850776"/>
            <a:ext cx="385482" cy="694322"/>
          </a:xfrm>
          <a:prstGeom prst="down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C26942-6FA4-90DF-2E22-C195222B3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373" y="2621173"/>
            <a:ext cx="2628900" cy="923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7A5B4B-B49C-3A81-317C-85ED4206E12E}"/>
              </a:ext>
            </a:extLst>
          </p:cNvPr>
          <p:cNvSpPr txBox="1"/>
          <p:nvPr/>
        </p:nvSpPr>
        <p:spPr>
          <a:xfrm>
            <a:off x="745191" y="4479877"/>
            <a:ext cx="67123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dataset has the first rows as column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So I used the “Use First Row as Headers” option to turn the first row into column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so that I can use the column names to sort/filter the data and to be able to correctly reference the relevant data for visualisations and calculations</a:t>
            </a:r>
          </a:p>
        </p:txBody>
      </p:sp>
    </p:spTree>
    <p:extLst>
      <p:ext uri="{BB962C8B-B14F-4D97-AF65-F5344CB8AC3E}">
        <p14:creationId xmlns:p14="http://schemas.microsoft.com/office/powerpoint/2010/main" val="282361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798CF2-91F9-C1CC-93E3-BE57CAC845B3}"/>
              </a:ext>
            </a:extLst>
          </p:cNvPr>
          <p:cNvSpPr txBox="1"/>
          <p:nvPr/>
        </p:nvSpPr>
        <p:spPr>
          <a:xfrm>
            <a:off x="569259" y="196043"/>
            <a:ext cx="426271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GB" sz="2800" b="1" dirty="0"/>
              <a:t>Check / Set Data Types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662B4B-0D9F-C2C9-E887-D4550421E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07" y="2297987"/>
            <a:ext cx="1066800" cy="1228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2D524-F9E4-1B48-C1D7-9BB393362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16" y="2297987"/>
            <a:ext cx="879011" cy="1228725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1BC51E9-8266-06E0-1959-673F5B852E49}"/>
              </a:ext>
            </a:extLst>
          </p:cNvPr>
          <p:cNvSpPr/>
          <p:nvPr/>
        </p:nvSpPr>
        <p:spPr>
          <a:xfrm>
            <a:off x="2447364" y="2680447"/>
            <a:ext cx="806824" cy="403411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F275B-43BE-50E9-CEFD-C7309B86EBF5}"/>
              </a:ext>
            </a:extLst>
          </p:cNvPr>
          <p:cNvSpPr txBox="1"/>
          <p:nvPr/>
        </p:nvSpPr>
        <p:spPr>
          <a:xfrm>
            <a:off x="138952" y="4010807"/>
            <a:ext cx="5123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OrderDate Data type from “text” to “Date”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format was as a long date format and I changed it into a short date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better for dashboards as it uses less space in tables, slicers and charts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6BEC39-F68C-3C15-C97F-B3C919716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444" y="2283462"/>
            <a:ext cx="832096" cy="12432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15E541-3954-BF27-1A75-B0504EE57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707" y="1514359"/>
            <a:ext cx="3012320" cy="617390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4901CDCC-7551-FB05-C55D-38A5C7379137}"/>
              </a:ext>
            </a:extLst>
          </p:cNvPr>
          <p:cNvSpPr/>
          <p:nvPr/>
        </p:nvSpPr>
        <p:spPr>
          <a:xfrm>
            <a:off x="8278408" y="2653846"/>
            <a:ext cx="832095" cy="469733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9724F5-335E-B4D2-53B5-9692E26F6A28}"/>
              </a:ext>
            </a:extLst>
          </p:cNvPr>
          <p:cNvSpPr txBox="1"/>
          <p:nvPr/>
        </p:nvSpPr>
        <p:spPr>
          <a:xfrm>
            <a:off x="6484655" y="4010807"/>
            <a:ext cx="441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UnitPrice Data type from “text” to “Decimal number”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Format from General to Currency with 2 D.P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so unit prices are reflected as dollars which is appropriate to the dataset consisting of orders made in the united states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7EFDDED-CC99-4123-0CC6-B6023C3A3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266" y="2283462"/>
            <a:ext cx="838200" cy="12382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B05AD4B-11AB-3B17-98F0-6798AD7BE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444" y="1509597"/>
            <a:ext cx="3090022" cy="62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6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798CF2-91F9-C1CC-93E3-BE57CAC845B3}"/>
              </a:ext>
            </a:extLst>
          </p:cNvPr>
          <p:cNvSpPr txBox="1"/>
          <p:nvPr/>
        </p:nvSpPr>
        <p:spPr>
          <a:xfrm>
            <a:off x="569259" y="196043"/>
            <a:ext cx="426271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GB" sz="2800" b="1" dirty="0"/>
              <a:t>Check / Set Data Types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B8EA50-E83A-D680-B9D9-752C3AA1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207" y="1559352"/>
            <a:ext cx="1954026" cy="8311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2637FB-A616-32FF-CD84-1196651E8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233" y="1559352"/>
            <a:ext cx="520246" cy="8311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D35A05-8553-3FCF-DC39-0C27F817EE8C}"/>
              </a:ext>
            </a:extLst>
          </p:cNvPr>
          <p:cNvSpPr txBox="1"/>
          <p:nvPr/>
        </p:nvSpPr>
        <p:spPr>
          <a:xfrm>
            <a:off x="4119377" y="2679578"/>
            <a:ext cx="4069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Quantity Data type from “text” to “Whole number”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FA039-B1BC-3B09-EE75-5EA96C068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965" y="2619961"/>
            <a:ext cx="800100" cy="1200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CB8C9B-6505-2C7D-4C9F-AEFA4D434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65" y="2619961"/>
            <a:ext cx="762886" cy="1200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4A242B-C1DE-432E-980D-FC0333E28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65" y="1626535"/>
            <a:ext cx="2858900" cy="584775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100B6940-2147-C0FF-9E52-643A3966CBDD}"/>
              </a:ext>
            </a:extLst>
          </p:cNvPr>
          <p:cNvSpPr/>
          <p:nvPr/>
        </p:nvSpPr>
        <p:spPr>
          <a:xfrm>
            <a:off x="1873203" y="2912348"/>
            <a:ext cx="806824" cy="403411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2F145-0EA4-3918-0114-7409A93856F1}"/>
              </a:ext>
            </a:extLst>
          </p:cNvPr>
          <p:cNvSpPr txBox="1"/>
          <p:nvPr/>
        </p:nvSpPr>
        <p:spPr>
          <a:xfrm>
            <a:off x="322309" y="4077303"/>
            <a:ext cx="4715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Discount Data type from “text” to “Decimal number”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have changed the format from General to Percentage with 1 D.P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makes the applied discount easier to understand and more visually appealing for the viewers of the dashboard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E5512C-1704-79A1-6391-DFBB60272B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937" y="2409207"/>
            <a:ext cx="838200" cy="1247775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3977B1F1-48B0-2DF3-0501-64355CCC3DFE}"/>
              </a:ext>
            </a:extLst>
          </p:cNvPr>
          <p:cNvSpPr/>
          <p:nvPr/>
        </p:nvSpPr>
        <p:spPr>
          <a:xfrm>
            <a:off x="9626975" y="2807576"/>
            <a:ext cx="806824" cy="403411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44EE77-69C4-FB68-541F-31D5B4C165A7}"/>
              </a:ext>
            </a:extLst>
          </p:cNvPr>
          <p:cNvSpPr txBox="1"/>
          <p:nvPr/>
        </p:nvSpPr>
        <p:spPr>
          <a:xfrm>
            <a:off x="7476565" y="4077303"/>
            <a:ext cx="46381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</a:t>
            </a:r>
            <a:r>
              <a:rPr lang="en-GB" sz="1600" dirty="0" err="1"/>
              <a:t>Unit_Cost</a:t>
            </a:r>
            <a:r>
              <a:rPr lang="en-GB" sz="1600" dirty="0"/>
              <a:t> Data type from “text” to “Decimal number”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changed the Format from General to Currency with 2 D.P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so that the unit costs are displayed appropriately as a currency and rounded to the same degree that is used in real life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359B67-0133-7523-53BE-930543D70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2643" y="1623249"/>
            <a:ext cx="3062194" cy="6316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EE8A791-7FC3-D7A1-898A-0B31D633DE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1598" y="2409206"/>
            <a:ext cx="82867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04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6BBF12-FE56-6A45-B7E1-367437FF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908" y="1107937"/>
            <a:ext cx="2514600" cy="942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81495C-30D5-2F17-5850-9059431D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508" y="1107937"/>
            <a:ext cx="596726" cy="942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3D1EC-B1B4-D842-D45D-7E78B525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01" y="1105741"/>
            <a:ext cx="2604248" cy="945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FDFB1D-0930-2588-029D-755EFA616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2049" y="1105741"/>
            <a:ext cx="568579" cy="945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CCC788-C0B9-0872-FD73-35C1F488F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801" y="2359638"/>
            <a:ext cx="2604248" cy="9652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8986AD-9A4F-9D03-6191-1B5FF4B47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2049" y="2355106"/>
            <a:ext cx="788043" cy="9681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765229-FDA6-D102-B9DE-12D5B6453B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1908" y="2381944"/>
            <a:ext cx="2514600" cy="945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C37EA5-378B-F544-C6E2-A334649946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7217" y="2381944"/>
            <a:ext cx="536771" cy="9429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2AFFF1-BA18-D50D-59F2-7F3F5FF63D46}"/>
              </a:ext>
            </a:extLst>
          </p:cNvPr>
          <p:cNvSpPr txBox="1"/>
          <p:nvPr/>
        </p:nvSpPr>
        <p:spPr>
          <a:xfrm>
            <a:off x="1927412" y="3704495"/>
            <a:ext cx="81130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 have categorised the following location data columns into the relevant data categories: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Country - Country/Region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Region - Country/Region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State - State or Province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dirty="0"/>
              <a:t>City -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so that if needed I can use the locations to create a map visual of orders across different regions/cities/states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85D97D-6F65-112A-5442-067803272FD2}"/>
              </a:ext>
            </a:extLst>
          </p:cNvPr>
          <p:cNvSpPr txBox="1"/>
          <p:nvPr/>
        </p:nvSpPr>
        <p:spPr>
          <a:xfrm>
            <a:off x="560293" y="356833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Set Data Categories</a:t>
            </a:r>
          </a:p>
        </p:txBody>
      </p:sp>
    </p:spTree>
    <p:extLst>
      <p:ext uri="{BB962C8B-B14F-4D97-AF65-F5344CB8AC3E}">
        <p14:creationId xmlns:p14="http://schemas.microsoft.com/office/powerpoint/2010/main" val="128126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776EE3-0472-515A-C376-D3F28218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52" y="1545923"/>
            <a:ext cx="7052983" cy="9935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BB09BF-B636-FB6F-54BF-3305D569E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52" y="2539475"/>
            <a:ext cx="7052983" cy="10003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ED7AA3-8990-05C7-75E8-F2353A7EBCC7}"/>
              </a:ext>
            </a:extLst>
          </p:cNvPr>
          <p:cNvSpPr txBox="1"/>
          <p:nvPr/>
        </p:nvSpPr>
        <p:spPr>
          <a:xfrm>
            <a:off x="558052" y="283553"/>
            <a:ext cx="70529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strike="noStrike" baseline="0" dirty="0"/>
              <a:t>Data Understanding &amp; Preparation (Power Query) </a:t>
            </a:r>
            <a:endParaRPr lang="en-GB" sz="2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B60079-5CD1-20F6-9F39-F2BD86FC1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391" y="1545923"/>
            <a:ext cx="2552700" cy="9239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B2A0C1-0EA5-7699-96A6-E8053256A61B}"/>
              </a:ext>
            </a:extLst>
          </p:cNvPr>
          <p:cNvSpPr txBox="1"/>
          <p:nvPr/>
        </p:nvSpPr>
        <p:spPr>
          <a:xfrm>
            <a:off x="558052" y="3872753"/>
            <a:ext cx="68311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From viewing the dataset using the column quality, column profile and column distribution: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are no empty/null/blank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are no data errors such as misspelling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There are no duplicates of rows as seen by the OrderID column having 900 distinct and unique values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4F1CD0-A544-2446-24D1-6F36ECEDB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491" y="2654603"/>
            <a:ext cx="24765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DB9B29-2E81-8F47-BD8D-433FA7EB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87" y="1258383"/>
            <a:ext cx="2580828" cy="2079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AE931E-00BF-41F3-F426-9D129A5C8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622" y="1180663"/>
            <a:ext cx="2727231" cy="2079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E30F84-DC8F-2E3D-B016-4BE76644F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94" y="1258383"/>
            <a:ext cx="2565306" cy="2077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8939F0-2A89-B9E9-D188-7B0E499A5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779" y="1258383"/>
            <a:ext cx="2273064" cy="20770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94B7A-0751-2A80-122D-2C0927396FC2}"/>
              </a:ext>
            </a:extLst>
          </p:cNvPr>
          <p:cNvSpPr txBox="1"/>
          <p:nvPr/>
        </p:nvSpPr>
        <p:spPr>
          <a:xfrm>
            <a:off x="681087" y="430306"/>
            <a:ext cx="3585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Data  Validation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8C099-D3F6-6A22-581A-CF258A5D3413}"/>
              </a:ext>
            </a:extLst>
          </p:cNvPr>
          <p:cNvSpPr txBox="1"/>
          <p:nvPr/>
        </p:nvSpPr>
        <p:spPr>
          <a:xfrm>
            <a:off x="375893" y="3640244"/>
            <a:ext cx="2967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the Quantity column, there are no orders below 1 or outliers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58B9E-A648-4343-1FD5-F326530E8999}"/>
              </a:ext>
            </a:extLst>
          </p:cNvPr>
          <p:cNvSpPr txBox="1"/>
          <p:nvPr/>
        </p:nvSpPr>
        <p:spPr>
          <a:xfrm>
            <a:off x="3306509" y="3637854"/>
            <a:ext cx="27894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the Discount column, there are no discounts over 100% or less than 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7EAE3C-CE1E-639D-CB88-B0D2E636BBC2}"/>
              </a:ext>
            </a:extLst>
          </p:cNvPr>
          <p:cNvSpPr txBox="1"/>
          <p:nvPr/>
        </p:nvSpPr>
        <p:spPr>
          <a:xfrm>
            <a:off x="6096000" y="3637854"/>
            <a:ext cx="25653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the Unit_Cost column, there are no negative or zero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0F412B-0429-F1D4-AC4E-781D5F2FE6E4}"/>
              </a:ext>
            </a:extLst>
          </p:cNvPr>
          <p:cNvSpPr txBox="1"/>
          <p:nvPr/>
        </p:nvSpPr>
        <p:spPr>
          <a:xfrm>
            <a:off x="8661305" y="3637854"/>
            <a:ext cx="2972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the UnitPrice column there are no negative or zero values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DD11B-B8C6-E8DF-6AAD-D6EDA96AB696}"/>
              </a:ext>
            </a:extLst>
          </p:cNvPr>
          <p:cNvSpPr txBox="1"/>
          <p:nvPr/>
        </p:nvSpPr>
        <p:spPr>
          <a:xfrm>
            <a:off x="1990165" y="5074024"/>
            <a:ext cx="778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all of the columns in the dataset, there are no data validation issues so the data is ready to be used for visualisation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317463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DFD28-98F3-1FCB-73DA-FFD75E66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79" y="1685084"/>
            <a:ext cx="1333500" cy="923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C0F4F-10B5-EEE5-F358-D82616E7F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180" y="2609010"/>
            <a:ext cx="1333500" cy="223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BC987-11D6-D7BD-F4DB-56FFDB044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79" y="2832752"/>
            <a:ext cx="1333500" cy="2133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15EDD1-B8D0-2919-B1D4-45EB752B3E81}"/>
              </a:ext>
            </a:extLst>
          </p:cNvPr>
          <p:cNvSpPr txBox="1"/>
          <p:nvPr/>
        </p:nvSpPr>
        <p:spPr>
          <a:xfrm>
            <a:off x="560293" y="438381"/>
            <a:ext cx="617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Core Calculations (DAX Measures)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CE6659-0404-D8C3-187C-7C8A368D9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9" y="3140233"/>
            <a:ext cx="2741238" cy="34748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24B034-8819-4A14-C172-7B4760F1B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679" y="2822637"/>
            <a:ext cx="4601695" cy="2335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EE3839-1146-86D6-E06A-83E4A3698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8678" y="2607811"/>
            <a:ext cx="3569632" cy="2326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E87C66-BC6C-E623-40F1-74BF83F28B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8678" y="2369425"/>
            <a:ext cx="4706750" cy="2707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5D325A-00F0-4901-902E-D237897CDF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8678" y="2151738"/>
            <a:ext cx="4210051" cy="2211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2A4AB3-B261-E87E-EB7B-6F8F18C195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8677" y="1875512"/>
            <a:ext cx="3038475" cy="2762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243235E-C548-0B2C-2144-44060B6D18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8676" y="1693068"/>
            <a:ext cx="8242707" cy="21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33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D2311-1789-79EB-48FC-A0E2D653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5" y="1825204"/>
            <a:ext cx="7355541" cy="4145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2DA35C-9460-6795-225C-F8704C53BF30}"/>
              </a:ext>
            </a:extLst>
          </p:cNvPr>
          <p:cNvSpPr txBox="1"/>
          <p:nvPr/>
        </p:nvSpPr>
        <p:spPr>
          <a:xfrm>
            <a:off x="443752" y="384593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Senior Management Report Page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BA5D7-21F9-1F15-ED45-3467081F7E6F}"/>
              </a:ext>
            </a:extLst>
          </p:cNvPr>
          <p:cNvSpPr txBox="1"/>
          <p:nvPr/>
        </p:nvSpPr>
        <p:spPr>
          <a:xfrm>
            <a:off x="7499537" y="1510879"/>
            <a:ext cx="47462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Profit and revenue declined significantly from 2021 to 2022, with revenue continuing to decline from $264,594.06 to $261,342.66 from 2022 to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On a positive note, despite the decline in revenue, from 2022 to 2023, the total profit increased from $65,398.45 to $68,273.75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We can see that Technology is the leading category in terms of total profit with $76,911.04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Technology subcategories (Copiers, Phones and Machines) are in the top 5 subcategories for total profit, explaining the reason for technology being the leading category</a:t>
            </a:r>
            <a:endParaRPr lang="en-GB" sz="600" dirty="0"/>
          </a:p>
          <a:p>
            <a:endParaRPr lang="en-GB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Despite the west region having the most states, they don’t generate as much profit individually compared to states in other regions</a:t>
            </a:r>
          </a:p>
        </p:txBody>
      </p:sp>
    </p:spTree>
    <p:extLst>
      <p:ext uri="{BB962C8B-B14F-4D97-AF65-F5344CB8AC3E}">
        <p14:creationId xmlns:p14="http://schemas.microsoft.com/office/powerpoint/2010/main" val="103468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43A3B2-C126-330C-5556-087DDE4F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74" y="707157"/>
            <a:ext cx="4991100" cy="1619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BCBC2-CEAE-DEE6-94FA-B6EFFC65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74" y="2326407"/>
            <a:ext cx="4991100" cy="42878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30BA1A-1FF7-5E0D-37DA-49079765E378}"/>
              </a:ext>
            </a:extLst>
          </p:cNvPr>
          <p:cNvSpPr txBox="1"/>
          <p:nvPr/>
        </p:nvSpPr>
        <p:spPr>
          <a:xfrm>
            <a:off x="444874" y="183937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Discount Impact on Profitability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54232-C3F7-4D0A-C5AA-06D24A802120}"/>
              </a:ext>
            </a:extLst>
          </p:cNvPr>
          <p:cNvSpPr txBox="1"/>
          <p:nvPr/>
        </p:nvSpPr>
        <p:spPr>
          <a:xfrm>
            <a:off x="5546912" y="707157"/>
            <a:ext cx="6549838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Overall, we can see that the 21-30% discount band has the highest profit margin. However, by looking into each category, we can see that furniture sales suffers from a decrease in profit margin when going from the 11-20% discount band to the 21-30%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We can see that for Office Supplies, the profit margin decreases at the 11-20% discount band but has a significant increase at the 21-30%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the Technology category, we can see that the 1-10% discount band slightly reduces the profit margin and it would be better to have no discount instead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1-10% discount band appears to be the riskiest overall as it doesn’t provide much more of an increase in profit margin from a 0% discount compared to the other discount bands.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It would be worthwhile to investigate the drops in profit margin for certain discount bands in each of the categories. For example: the 1-10% discount band for the technology category and the 11-20% discount band for the Office Supplies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Perhaps it would be better to have discounts for certain subcategories and no discount for others in order to increase the overall profit 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25747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DD4182-5E67-EA35-A94B-EC8E7AB13DC8}"/>
              </a:ext>
            </a:extLst>
          </p:cNvPr>
          <p:cNvSpPr txBox="1"/>
          <p:nvPr/>
        </p:nvSpPr>
        <p:spPr>
          <a:xfrm>
            <a:off x="704849" y="542925"/>
            <a:ext cx="4810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Limitations and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62EE2-6BA3-538B-9AB5-75437293F2CE}"/>
              </a:ext>
            </a:extLst>
          </p:cNvPr>
          <p:cNvSpPr txBox="1"/>
          <p:nvPr/>
        </p:nvSpPr>
        <p:spPr>
          <a:xfrm>
            <a:off x="400051" y="1285875"/>
            <a:ext cx="56959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 key limitation is that the analysis is based only on historical sales data. We don’t have data on external factors such as overall market performance or competitor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 example, the drop in total profit and revenue from 2021-2022 could be due to external factors including economic conditions and the overall market might have been affected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Furthermore, it could be that the retail company outperformed its competitors during this period but we wouldn’t be able to tell without further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Another limitation would be that the data focuses primarily on sales, costs and discounts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limits visibility into other business drivers such as customer satisfaction, repeat customers and any refunds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C6B9-886B-ACC8-D2E3-D8DFBFF840DC}"/>
              </a:ext>
            </a:extLst>
          </p:cNvPr>
          <p:cNvSpPr txBox="1"/>
          <p:nvPr/>
        </p:nvSpPr>
        <p:spPr>
          <a:xfrm>
            <a:off x="6096000" y="1285875"/>
            <a:ext cx="56959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retail company should look into the reasons behind the drastic decline in revenue after 2021 to identify any risks and recovery opportunities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They should also expand analysis into customer retention and behaviours to identify any high-paying customers and explore customer loyalty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Additionally, they should review their discounting strategies in order to optimise their profits and efficiently price their products, seeking to protect and increase profit margins.</a:t>
            </a:r>
          </a:p>
        </p:txBody>
      </p:sp>
    </p:spTree>
    <p:extLst>
      <p:ext uri="{BB962C8B-B14F-4D97-AF65-F5344CB8AC3E}">
        <p14:creationId xmlns:p14="http://schemas.microsoft.com/office/powerpoint/2010/main" val="236509806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457</TotalTime>
  <Words>1232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Courier New</vt:lpstr>
      <vt:lpstr>Wingdings 3</vt:lpstr>
      <vt:lpstr>Slice</vt:lpstr>
      <vt:lpstr>Robert bejenaru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</dc:creator>
  <cp:lastModifiedBy>Robert</cp:lastModifiedBy>
  <cp:revision>95</cp:revision>
  <dcterms:created xsi:type="dcterms:W3CDTF">2026-04-29T18:22:40Z</dcterms:created>
  <dcterms:modified xsi:type="dcterms:W3CDTF">2026-05-01T20:51:04Z</dcterms:modified>
</cp:coreProperties>
</file>